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44"/>
                </a:solidFill>
                <a:latin typeface="Calibri"/>
              </a:rPr>
              <a:t>Hotspot share of official test clips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Hotspot share (%)</c:v>
                </c:pt>
              </c:strCache>
            </c:strRef>
          </c:tx>
          <c:spPr>
            <a:solidFill>
              <a:srgbClr val="0F23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21-9F41-8E77-7268EB7AB6F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021-9F41-8E77-7268EB7AB6F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021-9F41-8E77-7268EB7AB6F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021-9F41-8E77-7268EB7AB6F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021-9F41-8E77-7268EB7AB6F1}"/>
              </c:ext>
            </c:extLst>
          </c:dPt>
          <c:dPt>
            <c:idx val="5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21-9F41-8E77-7268EB7AB6F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  <c:pt idx="5">
                  <c:v>Overall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4.6100000000000003</c:v>
                </c:pt>
                <c:pt idx="1">
                  <c:v>1.19</c:v>
                </c:pt>
                <c:pt idx="2">
                  <c:v>3.76</c:v>
                </c:pt>
                <c:pt idx="3">
                  <c:v>0.55000000000000004</c:v>
                </c:pt>
                <c:pt idx="4">
                  <c:v>0.21</c:v>
                </c:pt>
                <c:pt idx="5">
                  <c:v>1.88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021-9F41-8E77-7268EB7AB6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44"/>
                </a:solidFill>
                <a:latin typeface="Calibri"/>
              </a:rPr>
              <a:t>Average balanced accuracy, B1–B5 (unweighted mean, 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BA</c:v>
                </c:pt>
              </c:strCache>
            </c:strRef>
          </c:tx>
          <c:spPr>
            <a:solidFill>
              <a:srgbClr val="1F6FB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AC1-1D40-96DD-8F64879EFF00}"/>
              </c:ext>
            </c:extLst>
          </c:dPt>
          <c:dPt>
            <c:idx val="1"/>
            <c:invertIfNegative val="0"/>
            <c:bubble3D val="0"/>
            <c:spPr>
              <a:solidFill>
                <a:srgbClr val="E879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AC1-1D40-96DD-8F64879EFF00}"/>
              </c:ext>
            </c:extLst>
          </c:dPt>
          <c:dPt>
            <c:idx val="2"/>
            <c:invertIfNegative val="0"/>
            <c:bubble3D val="0"/>
            <c:spPr>
              <a:solidFill>
                <a:srgbClr val="2E9E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AC1-1D40-96DD-8F64879EFF00}"/>
              </c:ext>
            </c:extLst>
          </c:dPt>
          <c:dPt>
            <c:idx val="3"/>
            <c:invertIfNegative val="0"/>
            <c:bubble3D val="0"/>
            <c:spPr>
              <a:solidFill>
                <a:srgbClr val="D23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AC1-1D40-96DD-8F64879EFF0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R0 Spatial</c:v>
                </c:pt>
                <c:pt idx="1">
                  <c:v>R1 Full DCT</c:v>
                </c:pt>
                <c:pt idx="2">
                  <c:v>R2 Multi-band DCT</c:v>
                </c:pt>
                <c:pt idx="3">
                  <c:v>R3 Spatial + DCT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92.46</c:v>
                </c:pt>
                <c:pt idx="1">
                  <c:v>51.54</c:v>
                </c:pt>
                <c:pt idx="2">
                  <c:v>64</c:v>
                </c:pt>
                <c:pt idx="3">
                  <c:v>64.61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AC1-1D40-96DD-8F64879EFF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44"/>
                </a:solidFill>
                <a:latin typeface="Calibri"/>
              </a:rPr>
              <a:t>Balanced accuracy per benchmark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R0 Spatial</c:v>
                </c:pt>
              </c:strCache>
            </c:strRef>
          </c:tx>
          <c:spPr>
            <a:solidFill>
              <a:srgbClr val="1F6FB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95.02</c:v>
                </c:pt>
                <c:pt idx="1">
                  <c:v>97.05</c:v>
                </c:pt>
                <c:pt idx="2">
                  <c:v>93.55</c:v>
                </c:pt>
                <c:pt idx="3">
                  <c:v>82.84</c:v>
                </c:pt>
                <c:pt idx="4">
                  <c:v>93.82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85-FF4B-9132-AEB63EFBBB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R1 Full DCT</c:v>
                </c:pt>
              </c:strCache>
            </c:strRef>
          </c:tx>
          <c:spPr>
            <a:solidFill>
              <a:srgbClr val="E8791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</c:v>
                </c:pt>
                <c:pt idx="1">
                  <c:v>52.1</c:v>
                </c:pt>
                <c:pt idx="2">
                  <c:v>50.18</c:v>
                </c:pt>
                <c:pt idx="3">
                  <c:v>55.42</c:v>
                </c:pt>
                <c:pt idx="4">
                  <c:v>49.99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85-FF4B-9132-AEB63EFBBB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R2 Multi-band DCT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50</c:v>
                </c:pt>
                <c:pt idx="1">
                  <c:v>79.8</c:v>
                </c:pt>
                <c:pt idx="2">
                  <c:v>86.55</c:v>
                </c:pt>
                <c:pt idx="3">
                  <c:v>50.01</c:v>
                </c:pt>
                <c:pt idx="4">
                  <c:v>53.66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85-FF4B-9132-AEB63EFBBBF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R3 Spatial + DCT</c:v>
                </c:pt>
              </c:strCache>
            </c:strRef>
          </c:tx>
          <c:spPr>
            <a:solidFill>
              <a:srgbClr val="D23C3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92.42</c:v>
                </c:pt>
                <c:pt idx="1">
                  <c:v>50</c:v>
                </c:pt>
                <c:pt idx="2">
                  <c:v>53.84</c:v>
                </c:pt>
                <c:pt idx="3">
                  <c:v>49.99</c:v>
                </c:pt>
                <c:pt idx="4">
                  <c:v>76.819999999999993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85-FF4B-9132-AEB63EFBBB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44"/>
                </a:solidFill>
                <a:latin typeface="Calibri"/>
              </a:rPr>
              <a:t>B3 balanced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</c:v>
                </c:pt>
              </c:strCache>
            </c:strRef>
          </c:tx>
          <c:spPr>
            <a:solidFill>
              <a:srgbClr val="1F6FB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AB-FB48-9192-86C2C9025E0E}"/>
              </c:ext>
            </c:extLst>
          </c:dPt>
          <c:dPt>
            <c:idx val="1"/>
            <c:invertIfNegative val="0"/>
            <c:bubble3D val="0"/>
            <c:spPr>
              <a:solidFill>
                <a:srgbClr val="E879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AB-FB48-9192-86C2C9025E0E}"/>
              </c:ext>
            </c:extLst>
          </c:dPt>
          <c:dPt>
            <c:idx val="2"/>
            <c:invertIfNegative val="0"/>
            <c:bubble3D val="0"/>
            <c:spPr>
              <a:solidFill>
                <a:srgbClr val="2E9E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AB-FB48-9192-86C2C9025E0E}"/>
              </c:ext>
            </c:extLst>
          </c:dPt>
          <c:dPt>
            <c:idx val="3"/>
            <c:invertIfNegative val="0"/>
            <c:bubble3D val="0"/>
            <c:spPr>
              <a:solidFill>
                <a:srgbClr val="9CC9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AB-FB48-9192-86C2C9025E0E}"/>
              </c:ext>
            </c:extLst>
          </c:dPt>
          <c:dPt>
            <c:idx val="4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AB-FB48-9192-86C2C9025E0E}"/>
              </c:ext>
            </c:extLst>
          </c:dPt>
          <c:dPt>
            <c:idx val="5"/>
            <c:invertIfNegative val="0"/>
            <c:bubble3D val="0"/>
            <c:spPr>
              <a:solidFill>
                <a:srgbClr val="9CC9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AB-FB48-9192-86C2C9025E0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Spatial R0</c:v>
                </c:pt>
                <c:pt idx="1">
                  <c:v>Full DCT R1</c:v>
                </c:pt>
                <c:pt idx="2">
                  <c:v>Multi-band R2</c:v>
                </c:pt>
                <c:pt idx="3">
                  <c:v>LOW only</c:v>
                </c:pt>
                <c:pt idx="4">
                  <c:v>MID only</c:v>
                </c:pt>
                <c:pt idx="5">
                  <c:v>HIGH only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93.55</c:v>
                </c:pt>
                <c:pt idx="1">
                  <c:v>50.18</c:v>
                </c:pt>
                <c:pt idx="2">
                  <c:v>86.55</c:v>
                </c:pt>
                <c:pt idx="3">
                  <c:v>50</c:v>
                </c:pt>
                <c:pt idx="4">
                  <c:v>67.099999999999994</c:v>
                </c:pt>
                <c:pt idx="5">
                  <c:v>50.6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DAB-FB48-9192-86C2C9025E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44"/>
                </a:solidFill>
                <a:latin typeface="Calibri"/>
              </a:rPr>
              <a:t>Feature-level univariate AUC (descriptive)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High-band energy ratio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0.54559999999999997</c:v>
                </c:pt>
                <c:pt idx="1">
                  <c:v>0.6038</c:v>
                </c:pt>
                <c:pt idx="2">
                  <c:v>0.79039999999999999</c:v>
                </c:pt>
                <c:pt idx="3">
                  <c:v>0.83560000000000001</c:v>
                </c:pt>
                <c:pt idx="4">
                  <c:v>0.83079999999999998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9C-6F41-8941-84DA0030C4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Spatial mean</c:v>
                </c:pt>
              </c:strCache>
            </c:strRef>
          </c:tx>
          <c:spPr>
            <a:solidFill>
              <a:srgbClr val="8494A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0.73919999999999997</c:v>
                </c:pt>
                <c:pt idx="1">
                  <c:v>0.81779999999999997</c:v>
                </c:pt>
                <c:pt idx="2">
                  <c:v>0.65769999999999995</c:v>
                </c:pt>
                <c:pt idx="3">
                  <c:v>0.65780000000000005</c:v>
                </c:pt>
                <c:pt idx="4">
                  <c:v>0.64929999999999999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9C-6F41-8941-84DA0030C49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Low-band energy ratio</c:v>
                </c:pt>
              </c:strCache>
            </c:strRef>
          </c:tx>
          <c:spPr>
            <a:solidFill>
              <a:srgbClr val="C9D2D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B1</c:v>
                </c:pt>
                <c:pt idx="1">
                  <c:v>B2</c:v>
                </c:pt>
                <c:pt idx="2">
                  <c:v>B3</c:v>
                </c:pt>
                <c:pt idx="3">
                  <c:v>B4</c:v>
                </c:pt>
                <c:pt idx="4">
                  <c:v>B5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0.64419999999999999</c:v>
                </c:pt>
                <c:pt idx="1">
                  <c:v>0.59030000000000005</c:v>
                </c:pt>
                <c:pt idx="2">
                  <c:v>0.53480000000000005</c:v>
                </c:pt>
                <c:pt idx="3">
                  <c:v>0.54979999999999996</c:v>
                </c:pt>
                <c:pt idx="4">
                  <c:v>0.54859999999999998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9C-6F41-8941-84DA0030C4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5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44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B44"/>
                </a:solidFill>
                <a:latin typeface="Calibri"/>
              </a:rPr>
              <a:t>Training time (s), B2–B5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R0 Spatial</c:v>
                </c:pt>
              </c:strCache>
            </c:strRef>
          </c:tx>
          <c:spPr>
            <a:solidFill>
              <a:srgbClr val="1F6FB5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B2</c:v>
                </c:pt>
                <c:pt idx="1">
                  <c:v>B3</c:v>
                </c:pt>
                <c:pt idx="2">
                  <c:v>B4</c:v>
                </c:pt>
                <c:pt idx="3">
                  <c:v>B5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607.51</c:v>
                </c:pt>
                <c:pt idx="1">
                  <c:v>650.96</c:v>
                </c:pt>
                <c:pt idx="2">
                  <c:v>545.71</c:v>
                </c:pt>
                <c:pt idx="3">
                  <c:v>302.81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1E-5D45-B61C-21DB9ED75B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R1 Full DCT</c:v>
                </c:pt>
              </c:strCache>
            </c:strRef>
          </c:tx>
          <c:spPr>
            <a:solidFill>
              <a:srgbClr val="E8791D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B2</c:v>
                </c:pt>
                <c:pt idx="1">
                  <c:v>B3</c:v>
                </c:pt>
                <c:pt idx="2">
                  <c:v>B4</c:v>
                </c:pt>
                <c:pt idx="3">
                  <c:v>B5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923.47</c:v>
                </c:pt>
                <c:pt idx="1">
                  <c:v>955.72</c:v>
                </c:pt>
                <c:pt idx="2">
                  <c:v>764.53</c:v>
                </c:pt>
                <c:pt idx="3">
                  <c:v>454.37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1E-5D45-B61C-21DB9ED75B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R2 Multi-band</c:v>
                </c:pt>
              </c:strCache>
            </c:strRef>
          </c:tx>
          <c:spPr>
            <a:solidFill>
              <a:srgbClr val="2E9E5B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B2</c:v>
                </c:pt>
                <c:pt idx="1">
                  <c:v>B3</c:v>
                </c:pt>
                <c:pt idx="2">
                  <c:v>B4</c:v>
                </c:pt>
                <c:pt idx="3">
                  <c:v>B5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947.84</c:v>
                </c:pt>
                <c:pt idx="1">
                  <c:v>840.37</c:v>
                </c:pt>
                <c:pt idx="2">
                  <c:v>750.28</c:v>
                </c:pt>
                <c:pt idx="3">
                  <c:v>445.05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11E-5D45-B61C-21DB9ED75B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R3 Spatial + DCT</c:v>
                </c:pt>
              </c:strCache>
            </c:strRef>
          </c:tx>
          <c:spPr>
            <a:solidFill>
              <a:srgbClr val="D23C3C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B2</c:v>
                </c:pt>
                <c:pt idx="1">
                  <c:v>B3</c:v>
                </c:pt>
                <c:pt idx="2">
                  <c:v>B4</c:v>
                </c:pt>
                <c:pt idx="3">
                  <c:v>B5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1306.4000000000001</c:v>
                </c:pt>
                <c:pt idx="1">
                  <c:v>1395.71</c:v>
                </c:pt>
                <c:pt idx="2">
                  <c:v>1466.99</c:v>
                </c:pt>
                <c:pt idx="3">
                  <c:v>653.47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11E-5D45-B61C-21DB9ED75B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"/>
          <c:min val="0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64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DCT-Enhanced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Lithography Hotspot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204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8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Spatial-Frequency Study on ICCAD-12 Benchmarks</a:t>
            </a:r>
            <a:br>
              <a:rPr lang="en-US" sz="2000" dirty="0">
                <a:solidFill>
                  <a:srgbClr val="8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8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DA-2 Assignment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Palempalli Lakshmi Narasimha — 23BVD1007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Sanjay — 23BVD1012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 Anil Shende — 23BVD1013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06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Vellore Institute of Technology, Chennai, India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0" y="1371600"/>
            <a:ext cx="329184" cy="329184"/>
          </a:xfrm>
          <a:prstGeom prst="rect">
            <a:avLst/>
          </a:prstGeom>
          <a:solidFill>
            <a:srgbClr val="3CC4BC">
              <a:alpha val="9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329184" cy="329184"/>
          </a:xfrm>
          <a:prstGeom prst="rect">
            <a:avLst/>
          </a:prstGeom>
          <a:solidFill>
            <a:srgbClr val="3CC4BC">
              <a:alpha val="9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78240" y="1371600"/>
            <a:ext cx="329184" cy="329184"/>
          </a:xfrm>
          <a:prstGeom prst="rect">
            <a:avLst/>
          </a:prstGeom>
          <a:solidFill>
            <a:srgbClr val="3CC4BC">
              <a:alpha val="8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0" y="1371600"/>
            <a:ext cx="329184" cy="329184"/>
          </a:xfrm>
          <a:prstGeom prst="rect">
            <a:avLst/>
          </a:prstGeom>
          <a:solidFill>
            <a:srgbClr val="3CC4BC">
              <a:alpha val="8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509760" y="1371600"/>
            <a:ext cx="329184" cy="329184"/>
          </a:xfrm>
          <a:prstGeom prst="rect">
            <a:avLst/>
          </a:prstGeom>
          <a:solidFill>
            <a:srgbClr val="3CC4BC">
              <a:alpha val="7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875520" y="1371600"/>
            <a:ext cx="329184" cy="329184"/>
          </a:xfrm>
          <a:prstGeom prst="rect">
            <a:avLst/>
          </a:prstGeom>
          <a:solidFill>
            <a:srgbClr val="3CC4BC">
              <a:alpha val="7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41280" y="1371600"/>
            <a:ext cx="329184" cy="329184"/>
          </a:xfrm>
          <a:prstGeom prst="rect">
            <a:avLst/>
          </a:prstGeom>
          <a:solidFill>
            <a:srgbClr val="3CC4BC">
              <a:alpha val="6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07040" y="137160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72800" y="137160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338560" y="137160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29184" cy="329184"/>
          </a:xfrm>
          <a:prstGeom prst="rect">
            <a:avLst/>
          </a:prstGeom>
          <a:solidFill>
            <a:srgbClr val="3CC4BC">
              <a:alpha val="9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1737360"/>
            <a:ext cx="329184" cy="329184"/>
          </a:xfrm>
          <a:prstGeom prst="rect">
            <a:avLst/>
          </a:prstGeom>
          <a:solidFill>
            <a:srgbClr val="3CC4BC">
              <a:alpha val="8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0" y="1737360"/>
            <a:ext cx="329184" cy="329184"/>
          </a:xfrm>
          <a:prstGeom prst="rect">
            <a:avLst/>
          </a:prstGeom>
          <a:solidFill>
            <a:srgbClr val="3CC4BC">
              <a:alpha val="8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0" y="1737360"/>
            <a:ext cx="329184" cy="329184"/>
          </a:xfrm>
          <a:prstGeom prst="rect">
            <a:avLst/>
          </a:prstGeom>
          <a:solidFill>
            <a:srgbClr val="3CC4BC">
              <a:alpha val="7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509760" y="1737360"/>
            <a:ext cx="329184" cy="329184"/>
          </a:xfrm>
          <a:prstGeom prst="rect">
            <a:avLst/>
          </a:prstGeom>
          <a:solidFill>
            <a:srgbClr val="3CC4BC">
              <a:alpha val="7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75520" y="1737360"/>
            <a:ext cx="329184" cy="329184"/>
          </a:xfrm>
          <a:prstGeom prst="rect">
            <a:avLst/>
          </a:prstGeom>
          <a:solidFill>
            <a:srgbClr val="3CC4BC">
              <a:alpha val="6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241280" y="173736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607040" y="173736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972800" y="173736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338560" y="173736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46720" y="2103120"/>
            <a:ext cx="329184" cy="329184"/>
          </a:xfrm>
          <a:prstGeom prst="rect">
            <a:avLst/>
          </a:prstGeom>
          <a:solidFill>
            <a:srgbClr val="3CC4BC">
              <a:alpha val="8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412480" y="2103120"/>
            <a:ext cx="329184" cy="329184"/>
          </a:xfrm>
          <a:prstGeom prst="rect">
            <a:avLst/>
          </a:prstGeom>
          <a:solidFill>
            <a:srgbClr val="3CC4BC">
              <a:alpha val="8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78240" y="2103120"/>
            <a:ext cx="329184" cy="329184"/>
          </a:xfrm>
          <a:prstGeom prst="rect">
            <a:avLst/>
          </a:prstGeom>
          <a:solidFill>
            <a:srgbClr val="3CC4BC">
              <a:alpha val="7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44000" y="2103120"/>
            <a:ext cx="329184" cy="329184"/>
          </a:xfrm>
          <a:prstGeom prst="rect">
            <a:avLst/>
          </a:prstGeom>
          <a:solidFill>
            <a:srgbClr val="3CC4BC">
              <a:alpha val="7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0" y="2103120"/>
            <a:ext cx="329184" cy="329184"/>
          </a:xfrm>
          <a:prstGeom prst="rect">
            <a:avLst/>
          </a:prstGeom>
          <a:solidFill>
            <a:srgbClr val="3CC4BC">
              <a:alpha val="6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875520" y="210312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41280" y="210312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607040" y="210312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972800" y="210312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338560" y="210312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46720" y="2468880"/>
            <a:ext cx="329184" cy="329184"/>
          </a:xfrm>
          <a:prstGeom prst="rect">
            <a:avLst/>
          </a:prstGeom>
          <a:solidFill>
            <a:srgbClr val="3CC4BC">
              <a:alpha val="8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412480" y="2468880"/>
            <a:ext cx="329184" cy="329184"/>
          </a:xfrm>
          <a:prstGeom prst="rect">
            <a:avLst/>
          </a:prstGeom>
          <a:solidFill>
            <a:srgbClr val="3CC4BC">
              <a:alpha val="7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778240" y="2468880"/>
            <a:ext cx="329184" cy="329184"/>
          </a:xfrm>
          <a:prstGeom prst="rect">
            <a:avLst/>
          </a:prstGeom>
          <a:solidFill>
            <a:srgbClr val="3CC4BC">
              <a:alpha val="7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44000" y="2468880"/>
            <a:ext cx="329184" cy="329184"/>
          </a:xfrm>
          <a:prstGeom prst="rect">
            <a:avLst/>
          </a:prstGeom>
          <a:solidFill>
            <a:srgbClr val="3CC4BC">
              <a:alpha val="6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509760" y="246888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875520" y="246888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0241280" y="246888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607040" y="246888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972800" y="246888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1338560" y="2468880"/>
            <a:ext cx="329184" cy="329184"/>
          </a:xfrm>
          <a:prstGeom prst="rect">
            <a:avLst/>
          </a:prstGeom>
          <a:solidFill>
            <a:srgbClr val="3CC4BC">
              <a:alpha val="3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46720" y="2834640"/>
            <a:ext cx="329184" cy="329184"/>
          </a:xfrm>
          <a:prstGeom prst="rect">
            <a:avLst/>
          </a:prstGeom>
          <a:solidFill>
            <a:srgbClr val="3CC4BC">
              <a:alpha val="7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412480" y="2834640"/>
            <a:ext cx="329184" cy="329184"/>
          </a:xfrm>
          <a:prstGeom prst="rect">
            <a:avLst/>
          </a:prstGeom>
          <a:solidFill>
            <a:srgbClr val="3CC4BC">
              <a:alpha val="7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778240" y="2834640"/>
            <a:ext cx="329184" cy="329184"/>
          </a:xfrm>
          <a:prstGeom prst="rect">
            <a:avLst/>
          </a:prstGeom>
          <a:solidFill>
            <a:srgbClr val="3CC4BC">
              <a:alpha val="6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144000" y="283464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509760" y="283464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875520" y="283464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0241280" y="283464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607040" y="283464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972800" y="2834640"/>
            <a:ext cx="329184" cy="329184"/>
          </a:xfrm>
          <a:prstGeom prst="rect">
            <a:avLst/>
          </a:prstGeom>
          <a:solidFill>
            <a:srgbClr val="3CC4BC">
              <a:alpha val="3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338560" y="2834640"/>
            <a:ext cx="329184" cy="329184"/>
          </a:xfrm>
          <a:prstGeom prst="rect">
            <a:avLst/>
          </a:prstGeom>
          <a:solidFill>
            <a:srgbClr val="3CC4BC">
              <a:alpha val="3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046720" y="3200400"/>
            <a:ext cx="329184" cy="329184"/>
          </a:xfrm>
          <a:prstGeom prst="rect">
            <a:avLst/>
          </a:prstGeom>
          <a:solidFill>
            <a:srgbClr val="3CC4BC">
              <a:alpha val="7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412480" y="3200400"/>
            <a:ext cx="329184" cy="329184"/>
          </a:xfrm>
          <a:prstGeom prst="rect">
            <a:avLst/>
          </a:prstGeom>
          <a:solidFill>
            <a:srgbClr val="3CC4BC">
              <a:alpha val="6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778240" y="320040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144000" y="320040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509760" y="320040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875520" y="320040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0241280" y="320040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607040" y="3200400"/>
            <a:ext cx="329184" cy="329184"/>
          </a:xfrm>
          <a:prstGeom prst="rect">
            <a:avLst/>
          </a:prstGeom>
          <a:solidFill>
            <a:srgbClr val="3CC4BC">
              <a:alpha val="3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0972800" y="3200400"/>
            <a:ext cx="329184" cy="329184"/>
          </a:xfrm>
          <a:prstGeom prst="rect">
            <a:avLst/>
          </a:prstGeom>
          <a:solidFill>
            <a:srgbClr val="3CC4BC">
              <a:alpha val="3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1338560" y="3200400"/>
            <a:ext cx="329184" cy="329184"/>
          </a:xfrm>
          <a:prstGeom prst="rect">
            <a:avLst/>
          </a:prstGeom>
          <a:solidFill>
            <a:srgbClr val="3CC4BC">
              <a:alpha val="2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046720" y="3566160"/>
            <a:ext cx="329184" cy="329184"/>
          </a:xfrm>
          <a:prstGeom prst="rect">
            <a:avLst/>
          </a:prstGeom>
          <a:solidFill>
            <a:srgbClr val="3CC4BC">
              <a:alpha val="6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412480" y="356616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778240" y="356616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144000" y="356616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509760" y="356616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875520" y="356616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241280" y="3566160"/>
            <a:ext cx="329184" cy="329184"/>
          </a:xfrm>
          <a:prstGeom prst="rect">
            <a:avLst/>
          </a:prstGeom>
          <a:solidFill>
            <a:srgbClr val="3CC4BC">
              <a:alpha val="3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607040" y="3566160"/>
            <a:ext cx="329184" cy="329184"/>
          </a:xfrm>
          <a:prstGeom prst="rect">
            <a:avLst/>
          </a:prstGeom>
          <a:solidFill>
            <a:srgbClr val="3CC4BC">
              <a:alpha val="3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972800" y="3566160"/>
            <a:ext cx="329184" cy="329184"/>
          </a:xfrm>
          <a:prstGeom prst="rect">
            <a:avLst/>
          </a:prstGeom>
          <a:solidFill>
            <a:srgbClr val="3CC4BC">
              <a:alpha val="2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338560" y="3566160"/>
            <a:ext cx="329184" cy="329184"/>
          </a:xfrm>
          <a:prstGeom prst="rect">
            <a:avLst/>
          </a:prstGeom>
          <a:solidFill>
            <a:srgbClr val="3CC4BC">
              <a:alpha val="2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046720" y="3931920"/>
            <a:ext cx="329184" cy="329184"/>
          </a:xfrm>
          <a:prstGeom prst="rect">
            <a:avLst/>
          </a:prstGeom>
          <a:solidFill>
            <a:srgbClr val="3CC4BC">
              <a:alpha val="6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412480" y="393192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778240" y="393192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9144000" y="393192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9509760" y="393192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9875520" y="3931920"/>
            <a:ext cx="329184" cy="329184"/>
          </a:xfrm>
          <a:prstGeom prst="rect">
            <a:avLst/>
          </a:prstGeom>
          <a:solidFill>
            <a:srgbClr val="3CC4BC">
              <a:alpha val="3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241280" y="3931920"/>
            <a:ext cx="329184" cy="329184"/>
          </a:xfrm>
          <a:prstGeom prst="rect">
            <a:avLst/>
          </a:prstGeom>
          <a:solidFill>
            <a:srgbClr val="3CC4BC">
              <a:alpha val="3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607040" y="3931920"/>
            <a:ext cx="329184" cy="329184"/>
          </a:xfrm>
          <a:prstGeom prst="rect">
            <a:avLst/>
          </a:prstGeom>
          <a:solidFill>
            <a:srgbClr val="3CC4BC">
              <a:alpha val="2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0972800" y="3931920"/>
            <a:ext cx="329184" cy="329184"/>
          </a:xfrm>
          <a:prstGeom prst="rect">
            <a:avLst/>
          </a:prstGeom>
          <a:solidFill>
            <a:srgbClr val="3CC4BC">
              <a:alpha val="2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338560" y="3931920"/>
            <a:ext cx="329184" cy="329184"/>
          </a:xfrm>
          <a:prstGeom prst="rect">
            <a:avLst/>
          </a:prstGeom>
          <a:solidFill>
            <a:srgbClr val="3CC4BC">
              <a:alpha val="1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046720" y="4297680"/>
            <a:ext cx="329184" cy="329184"/>
          </a:xfrm>
          <a:prstGeom prst="rect">
            <a:avLst/>
          </a:prstGeom>
          <a:solidFill>
            <a:srgbClr val="3CC4BC">
              <a:alpha val="5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412480" y="429768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778240" y="429768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9144000" y="429768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9509760" y="4297680"/>
            <a:ext cx="329184" cy="329184"/>
          </a:xfrm>
          <a:prstGeom prst="rect">
            <a:avLst/>
          </a:prstGeom>
          <a:solidFill>
            <a:srgbClr val="3CC4BC">
              <a:alpha val="3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9875520" y="4297680"/>
            <a:ext cx="329184" cy="329184"/>
          </a:xfrm>
          <a:prstGeom prst="rect">
            <a:avLst/>
          </a:prstGeom>
          <a:solidFill>
            <a:srgbClr val="3CC4BC">
              <a:alpha val="3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241280" y="4297680"/>
            <a:ext cx="329184" cy="329184"/>
          </a:xfrm>
          <a:prstGeom prst="rect">
            <a:avLst/>
          </a:prstGeom>
          <a:solidFill>
            <a:srgbClr val="3CC4BC">
              <a:alpha val="2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0607040" y="4297680"/>
            <a:ext cx="329184" cy="329184"/>
          </a:xfrm>
          <a:prstGeom prst="rect">
            <a:avLst/>
          </a:prstGeom>
          <a:solidFill>
            <a:srgbClr val="3CC4BC">
              <a:alpha val="2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972800" y="4297680"/>
            <a:ext cx="329184" cy="329184"/>
          </a:xfrm>
          <a:prstGeom prst="rect">
            <a:avLst/>
          </a:prstGeom>
          <a:solidFill>
            <a:srgbClr val="3CC4BC">
              <a:alpha val="1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1338560" y="4297680"/>
            <a:ext cx="329184" cy="329184"/>
          </a:xfrm>
          <a:prstGeom prst="rect">
            <a:avLst/>
          </a:prstGeom>
          <a:solidFill>
            <a:srgbClr val="3CC4BC">
              <a:alpha val="1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8046720" y="4663440"/>
            <a:ext cx="329184" cy="329184"/>
          </a:xfrm>
          <a:prstGeom prst="rect">
            <a:avLst/>
          </a:prstGeom>
          <a:solidFill>
            <a:srgbClr val="3CC4BC">
              <a:alpha val="5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8412480" y="4663440"/>
            <a:ext cx="329184" cy="329184"/>
          </a:xfrm>
          <a:prstGeom prst="rect">
            <a:avLst/>
          </a:prstGeom>
          <a:solidFill>
            <a:srgbClr val="3CC4BC">
              <a:alpha val="4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778240" y="4663440"/>
            <a:ext cx="329184" cy="329184"/>
          </a:xfrm>
          <a:prstGeom prst="rect">
            <a:avLst/>
          </a:prstGeom>
          <a:solidFill>
            <a:srgbClr val="3CC4BC">
              <a:alpha val="4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9144000" y="4663440"/>
            <a:ext cx="329184" cy="329184"/>
          </a:xfrm>
          <a:prstGeom prst="rect">
            <a:avLst/>
          </a:prstGeom>
          <a:solidFill>
            <a:srgbClr val="3CC4BC">
              <a:alpha val="3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9509760" y="4663440"/>
            <a:ext cx="329184" cy="329184"/>
          </a:xfrm>
          <a:prstGeom prst="rect">
            <a:avLst/>
          </a:prstGeom>
          <a:solidFill>
            <a:srgbClr val="3CC4BC">
              <a:alpha val="3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9875520" y="4663440"/>
            <a:ext cx="329184" cy="329184"/>
          </a:xfrm>
          <a:prstGeom prst="rect">
            <a:avLst/>
          </a:prstGeom>
          <a:solidFill>
            <a:srgbClr val="3CC4BC">
              <a:alpha val="2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0241280" y="4663440"/>
            <a:ext cx="329184" cy="329184"/>
          </a:xfrm>
          <a:prstGeom prst="rect">
            <a:avLst/>
          </a:prstGeom>
          <a:solidFill>
            <a:srgbClr val="3CC4BC">
              <a:alpha val="2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0607040" y="4663440"/>
            <a:ext cx="329184" cy="329184"/>
          </a:xfrm>
          <a:prstGeom prst="rect">
            <a:avLst/>
          </a:prstGeom>
          <a:solidFill>
            <a:srgbClr val="3CC4BC">
              <a:alpha val="1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0972800" y="4663440"/>
            <a:ext cx="329184" cy="329184"/>
          </a:xfrm>
          <a:prstGeom prst="rect">
            <a:avLst/>
          </a:prstGeom>
          <a:solidFill>
            <a:srgbClr val="3CC4BC">
              <a:alpha val="10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1338560" y="4663440"/>
            <a:ext cx="329184" cy="329184"/>
          </a:xfrm>
          <a:prstGeom prst="rect">
            <a:avLst/>
          </a:prstGeom>
          <a:solidFill>
            <a:srgbClr val="3CC4BC">
              <a:alpha val="5000"/>
            </a:srgbClr>
          </a:solidFill>
          <a:ln w="12700">
            <a:solidFill>
              <a:srgbClr val="3CC4B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 txBox="1"/>
          <p:nvPr/>
        </p:nvSpPr>
        <p:spPr>
          <a:xfrm>
            <a:off x="8046720" y="5166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DCT coefficient plane: DC / low frequency (top-left) → high frequency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layout patterns fail to print: hotspot detection finds them early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Rasterised design clip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897380"/>
            <a:ext cx="548640" cy="0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474720" y="141732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Lithography process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Sub-wavelength printing effects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897380"/>
            <a:ext cx="548640" cy="0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141732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result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geometries print poorly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1897380"/>
            <a:ext cx="548640" cy="0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326880" y="141732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0B7A75"/>
          </a:solidFill>
          <a:ln w="9525">
            <a:solidFill>
              <a:srgbClr val="0B7A75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detection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failing patterns early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4320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hotspot geometries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290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necks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4290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corner-to-corner spacings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29768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line ends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429768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2-D interactions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74320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machine-learning surrogate?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4290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FCEBDD"/>
          </a:solidFill>
          <a:ln w="9525">
            <a:solidFill>
              <a:srgbClr val="FCEBDD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lithography simulation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faithful, but too expensive for repeated full-chip verification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343400"/>
            <a:ext cx="4937760" cy="777240"/>
          </a:xfrm>
          <a:prstGeom prst="roundRect">
            <a:avLst>
              <a:gd name="adj" fmla="val 7059"/>
            </a:avLst>
          </a:prstGeom>
          <a:solidFill>
            <a:srgbClr val="E0F3E8"/>
          </a:solidFill>
          <a:ln w="9525">
            <a:solidFill>
              <a:srgbClr val="E0F3E8"/>
            </a:solidFill>
          </a:ln>
        </p:spPr>
        <p:txBody>
          <a:bodyPr wrap="square" lIns="109728" tIns="109728" rIns="109728" bIns="109728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hotspot detection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layout clips: a faster surrogate detector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hotspot can reduce yield across an entire wafer lot, so hotspot identification is a mandatory physical-verification step.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DD828-ACED-CF3A-A7A2-A1852CFFCE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5"/>
          <a:stretch>
            <a:fillRect/>
          </a:stretch>
        </p:blipFill>
        <p:spPr>
          <a:xfrm>
            <a:off x="20" y="-21020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and hypotheses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228600" tIns="228600" rIns="228600" bIns="228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frequency-domain information from the DCT improve hotspot detection compared with a spatial representation, with classifier capacity, training schedule and benchmarks fixed?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DCT-derived representations contain discriminative information that a lightweight CNN can exploit.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01752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154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separation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886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DCT coefficients into frequency bands improves representation quality over undifferentiated full-spectrum DCT.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01752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154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886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spatial and frequency information provides complementary evidence and improves detection.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were formulated before the comparison and are treated as falsifiable: the experiments test them rather than assume them.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design: one lightweight CNN, four representations, five benchmarks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ICCAD-12 benchmarks B1–B5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08960" y="1993392"/>
            <a:ext cx="0" cy="173736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167128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grayscale layout clips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08960" y="2743200"/>
            <a:ext cx="0" cy="173736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916936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representations (R0–R3)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08960" y="3493008"/>
            <a:ext cx="0" cy="173736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666744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lightweight CNN budget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08960" y="4242816"/>
            <a:ext cx="0" cy="173736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416552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official test sets (untouched)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4992624"/>
            <a:ext cx="0" cy="173736"/>
          </a:xfrm>
          <a:prstGeom prst="line">
            <a:avLst/>
          </a:prstGeom>
          <a:noFill/>
          <a:ln w="22225">
            <a:solidFill>
              <a:srgbClr val="5B6B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5166360"/>
            <a:ext cx="5120640" cy="566928"/>
          </a:xfrm>
          <a:prstGeom prst="roundRect">
            <a:avLst>
              <a:gd name="adj" fmla="val 9677"/>
            </a:avLst>
          </a:prstGeom>
          <a:solidFill>
            <a:srgbClr val="0B7A75"/>
          </a:solidFill>
          <a:ln w="9525">
            <a:solidFill>
              <a:srgbClr val="0B7A75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· Precision · Recall · Specificity · F1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4173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075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(B1–B5)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141732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12,873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0756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6517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Nadam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65176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3310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388620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4544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052560" y="3886200"/>
            <a:ext cx="25603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BCE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544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loss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516636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9525">
            <a:solidFill>
              <a:srgbClr val="F1C7A3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applied: </a:t>
            </a: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weighting, resampling, augmentation, threshold tuning. Each representation shows its raw behaviour under an identical, unmodified recipe.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representations, one fixed CNN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F6FB5"/>
          </a:solidFill>
          <a:ln w="9525">
            <a:solidFill>
              <a:srgbClr val="1F6FB5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baseline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37160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E4EFF9"/>
          </a:solidFill>
          <a:ln w="9525">
            <a:solidFill>
              <a:srgbClr val="1F6FB5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clip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86300" y="1828800"/>
            <a:ext cx="219456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933188" y="137160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E4EFF9"/>
          </a:solidFill>
          <a:ln w="9525">
            <a:solidFill>
              <a:srgbClr val="1F6FB5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 × 224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013448" y="1828800"/>
            <a:ext cx="219456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260336" y="137160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E4EFF9"/>
          </a:solidFill>
          <a:ln w="9525">
            <a:solidFill>
              <a:srgbClr val="1F6FB5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(÷ 255)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340596" y="1828800"/>
            <a:ext cx="219456" cy="0"/>
          </a:xfrm>
          <a:prstGeom prst="line">
            <a:avLst/>
          </a:prstGeom>
          <a:noFill/>
          <a:ln w="22225">
            <a:solidFill>
              <a:srgbClr val="1F6FB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587484" y="137160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E4EFF9"/>
          </a:solidFill>
          <a:ln w="9525">
            <a:solidFill>
              <a:srgbClr val="1F6FB5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to 3 channels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4231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8791D"/>
          </a:solidFill>
          <a:ln w="9525">
            <a:solidFill>
              <a:srgbClr val="E8791D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DCT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42316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9525">
            <a:solidFill>
              <a:srgbClr val="E8791D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clip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10584" y="2880360"/>
            <a:ext cx="219456" cy="0"/>
          </a:xfrm>
          <a:prstGeom prst="line">
            <a:avLst/>
          </a:prstGeom>
          <a:noFill/>
          <a:ln w="22225">
            <a:solidFill>
              <a:srgbClr val="E879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157472" y="242316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9525">
            <a:solidFill>
              <a:srgbClr val="E8791D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DCT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62016" y="2880360"/>
            <a:ext cx="219456" cy="0"/>
          </a:xfrm>
          <a:prstGeom prst="line">
            <a:avLst/>
          </a:prstGeom>
          <a:noFill/>
          <a:ln w="22225">
            <a:solidFill>
              <a:srgbClr val="E879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708904" y="242316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9525">
            <a:solidFill>
              <a:srgbClr val="E8791D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|·|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13448" y="2880360"/>
            <a:ext cx="219456" cy="0"/>
          </a:xfrm>
          <a:prstGeom prst="line">
            <a:avLst/>
          </a:prstGeom>
          <a:noFill/>
          <a:ln w="22225">
            <a:solidFill>
              <a:srgbClr val="E879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260336" y="242316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9525">
            <a:solidFill>
              <a:srgbClr val="E8791D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564880" y="2880360"/>
            <a:ext cx="219456" cy="0"/>
          </a:xfrm>
          <a:prstGeom prst="line">
            <a:avLst/>
          </a:prstGeom>
          <a:noFill/>
          <a:ln w="22225">
            <a:solidFill>
              <a:srgbClr val="E879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811768" y="242316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9525">
            <a:solidFill>
              <a:srgbClr val="E8791D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(per image)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116312" y="2880360"/>
            <a:ext cx="219456" cy="0"/>
          </a:xfrm>
          <a:prstGeom prst="line">
            <a:avLst/>
          </a:prstGeom>
          <a:noFill/>
          <a:ln w="22225">
            <a:solidFill>
              <a:srgbClr val="E879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0363200" y="242316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 w="9525">
            <a:solidFill>
              <a:srgbClr val="E8791D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to 3 channels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7472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2E9E5B"/>
          </a:solidFill>
          <a:ln w="9525">
            <a:solidFill>
              <a:srgbClr val="2E9E5B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DCT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347472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E0F3E8"/>
          </a:solidFill>
          <a:ln w="9525">
            <a:solidFill>
              <a:srgbClr val="2E9E5B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DCT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910584" y="3931920"/>
            <a:ext cx="219456" cy="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157472" y="347472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E0F3E8"/>
          </a:solidFill>
          <a:ln w="9525">
            <a:solidFill>
              <a:srgbClr val="2E9E5B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|·|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62016" y="3931920"/>
            <a:ext cx="219456" cy="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708904" y="347472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E0F3E8"/>
          </a:solidFill>
          <a:ln w="9525">
            <a:solidFill>
              <a:srgbClr val="2E9E5B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013448" y="3931920"/>
            <a:ext cx="219456" cy="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260336" y="347472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E0F3E8"/>
          </a:solidFill>
          <a:ln w="9525">
            <a:solidFill>
              <a:srgbClr val="2E9E5B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(per image)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564880" y="3931920"/>
            <a:ext cx="219456" cy="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811768" y="347472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E0F3E8"/>
          </a:solidFill>
          <a:ln w="9525">
            <a:solidFill>
              <a:srgbClr val="2E9E5B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bands LOW / MID / HIGH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116312" y="3931920"/>
            <a:ext cx="219456" cy="0"/>
          </a:xfrm>
          <a:prstGeom prst="line">
            <a:avLst/>
          </a:prstGeom>
          <a:noFill/>
          <a:ln w="22225">
            <a:solidFill>
              <a:srgbClr val="2E9E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10363200" y="3474720"/>
            <a:ext cx="1277112" cy="914400"/>
          </a:xfrm>
          <a:prstGeom prst="roundRect">
            <a:avLst>
              <a:gd name="adj" fmla="val 6000"/>
            </a:avLst>
          </a:prstGeom>
          <a:solidFill>
            <a:srgbClr val="E0F3E8"/>
          </a:solidFill>
          <a:ln w="9525">
            <a:solidFill>
              <a:srgbClr val="2E9E5B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52628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D23C3C"/>
          </a:solidFill>
          <a:ln w="9525">
            <a:solidFill>
              <a:srgbClr val="D23C3C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+ DCT fusion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606040" y="452628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 w="9525">
            <a:solidFill>
              <a:srgbClr val="D23C3C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branch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filters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686300" y="4983480"/>
            <a:ext cx="219456" cy="0"/>
          </a:xfrm>
          <a:prstGeom prst="line">
            <a:avLst/>
          </a:prstGeom>
          <a:noFill/>
          <a:ln w="22225">
            <a:solidFill>
              <a:srgbClr val="D23C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933188" y="452628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 w="9525">
            <a:solidFill>
              <a:srgbClr val="D23C3C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DCT branch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filters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013448" y="4983480"/>
            <a:ext cx="219456" cy="0"/>
          </a:xfrm>
          <a:prstGeom prst="line">
            <a:avLst/>
          </a:prstGeom>
          <a:noFill/>
          <a:ln w="22225">
            <a:solidFill>
              <a:srgbClr val="D23C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260336" y="452628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 w="9525">
            <a:solidFill>
              <a:srgbClr val="D23C3C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(concatenate)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340596" y="4983480"/>
            <a:ext cx="219456" cy="0"/>
          </a:xfrm>
          <a:prstGeom prst="line">
            <a:avLst/>
          </a:prstGeom>
          <a:noFill/>
          <a:ln w="22225">
            <a:solidFill>
              <a:srgbClr val="D23C3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9587484" y="4526280"/>
            <a:ext cx="2052828" cy="914400"/>
          </a:xfrm>
          <a:prstGeom prst="roundRect">
            <a:avLst>
              <a:gd name="adj" fmla="val 6000"/>
            </a:avLst>
          </a:prstGeom>
          <a:solidFill>
            <a:srgbClr val="FBE3E3"/>
          </a:solidFill>
          <a:ln w="9525">
            <a:solidFill>
              <a:srgbClr val="D23C3C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→ Dense 64 → sigmoid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configurations: 12,873 trainable parameters.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class imbalance makes ordinary accuracy misleading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61264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040880" y="137160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182880" tIns="182880" rIns="182880" bIns="18288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ordinary accuracy fails</a:t>
            </a:r>
            <a:endParaRPr lang="en-US" sz="13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every clip non-hotspot gives 99.79% accuracy on B5 while detecting nothing.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926080"/>
            <a:ext cx="4572000" cy="1737360"/>
          </a:xfrm>
          <a:prstGeom prst="roundRect">
            <a:avLst>
              <a:gd name="adj" fmla="val 3158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228600" tIns="228600" rIns="228600" bIns="228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3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= (Recall + Specificity) / 2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both classes equally; any constant classifier scores exactly 50%.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4846320"/>
            <a:ext cx="4572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182880" tIns="182880" rIns="182880" bIns="18288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146,277</a:t>
            </a: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clips, of which only 2,750 are hotspots (1.88%)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 separation substantially improves DCT, but spatial representation remains stronger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67665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classifier scores 50%.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average BA (percentage points)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87452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vs R0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18745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87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−40.92 pp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29260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29260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vs R1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+12.46 pp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97764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3977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vs R2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3977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23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+0.61 pp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502920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5029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vs R0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0" y="5029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23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−27.85 pp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Benchmark-wise: spatial is stable, DCT-based models are benchmark-dependent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25880"/>
          <a:ext cx="81381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869680" y="137160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E4EFF9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6F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 stays ≥ 82.84%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benchmark (range 82.84–97.05%)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869680" y="2788920"/>
            <a:ext cx="2743200" cy="155448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DCT-based models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strong benchmark dependence and several degenerate operating points near 50% BA.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452628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50.00–86.55%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49.99–92.42%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best on B2/B3; R3 best on B1/B5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 confusion matrices: balanced accuracy alone hides how each model fails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Spatial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NHS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HS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E4EFF9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41,128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5,205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E4EFF9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1,778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98.34%  ·  Spec. 88.77%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251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balanced behaviour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37160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7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Full DCT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NHS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HS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2860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CEBDD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46,165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CEBDD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100.00%  ·  Spec. 0.36%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520440" y="4251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almost everything as hotspot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37160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Multi-band DCT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NHS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HS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22860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E0F3E8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35,610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90956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10,723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E0F3E8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1,740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96.24%  ·  Spec. 76.86%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355080" y="4251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recall, but many false alarms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1371600"/>
            <a:ext cx="2651760" cy="37033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189720" y="14813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2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— Spatial + DCT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7840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NHS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74420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HS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22860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144000" y="30632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78408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BE3E3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46,175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0744200" y="219456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78408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5F5F5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1,663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0744200" y="2971800"/>
            <a:ext cx="914400" cy="731520"/>
          </a:xfrm>
          <a:prstGeom prst="roundRect">
            <a:avLst>
              <a:gd name="adj" fmla="val 7500"/>
            </a:avLst>
          </a:prstGeom>
          <a:solidFill>
            <a:srgbClr val="FBE3E3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8.02%  ·  Spec. 99.66%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9189720" y="4251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almost everything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3035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182880" tIns="182880" rIns="182880" bIns="18288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vs. specificity: </a:t>
            </a: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hotspot (FN) propagates to mask and wafer, while a false alarm (FP) costs simulation or inspection time. Higher specificity alone is not better: R3 has the highest specificity but recovers only 8.02% of hotspots. On B3 the ranking is R0, then R2, then R3.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 ablation: only the MID band works alone, and combining bands adds 19.45 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6766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only. MID is the best individual band on B3; no universal band ordering is implied.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371600"/>
            <a:ext cx="3931920" cy="1234440"/>
          </a:xfrm>
          <a:prstGeom prst="roundRect">
            <a:avLst>
              <a:gd name="adj" fmla="val 4444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182880" tIns="182880" rIns="182880" bIns="18288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8FD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+19.45 pp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(86.55%) vs best single band, MID (67.10%)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788920"/>
            <a:ext cx="3931920" cy="758952"/>
          </a:xfrm>
          <a:prstGeom prst="roundRect">
            <a:avLst>
              <a:gd name="adj" fmla="val 7229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only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All-negative: 0% recall, 100% specificity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657600"/>
            <a:ext cx="3931920" cy="758952"/>
          </a:xfrm>
          <a:prstGeom prst="roundRect">
            <a:avLst>
              <a:gd name="adj" fmla="val 7229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only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non-degenerate single band: 98.34% recall, 35.87% specificity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526280"/>
            <a:ext cx="3931920" cy="758952"/>
          </a:xfrm>
          <a:prstGeom prst="roundRect">
            <a:avLst>
              <a:gd name="adj" fmla="val 7229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only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all-positive: 100% recall, 1.19% specificity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5394960"/>
            <a:ext cx="3931920" cy="758952"/>
          </a:xfrm>
          <a:prstGeom prst="roundRect">
            <a:avLst>
              <a:gd name="adj" fmla="val 7229"/>
            </a:avLst>
          </a:prstGeom>
          <a:solidFill>
            <a:srgbClr val="E0F3E8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+ MID + HIGH</a:t>
            </a:r>
            <a:endParaRPr lang="en-US" sz="13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35.87% → 76.86%; recall 98.34% → 96.24%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features can be class-separable even when the CNN fails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starts at 0.5 (chance level for AUC). On B1–B2, intensity-related descriptors are strongest.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3716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E0F3E8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LEVEL</a:t>
            </a:r>
            <a:endParaRPr lang="en-US" sz="13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High-band energy ratio, AUC up to 0.8356 on B3–B5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37744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88036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CEBDD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7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LEVEL</a:t>
            </a:r>
            <a:endParaRPr lang="en-US" sz="13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HIGH-only CNN on B3: 50.60% balanced accuracy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114800"/>
            <a:ext cx="3749040" cy="1737360"/>
          </a:xfrm>
          <a:prstGeom prst="roundRect">
            <a:avLst>
              <a:gd name="adj" fmla="val 3158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182880" tIns="182880" rIns="182880" bIns="18288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frequency information exists, but the evaluated representation and preprocessing do not let the CNN exploit it robustly. Feature AUC is not CNN performance.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Frequency-domain models are not cheaper here; conclusions stay within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6309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6309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is the most expensive configuration: </a:t>
            </a:r>
            <a:r>
              <a:rPr lang="en-US" sz="13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B2–B5 training and at inference on all five benchmarks; inference is about 2× R0 on B2–B5 (B3: 384.95 s vs 155.89 s). Timings come from one uncontrolled environment: relative cost only.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371600"/>
            <a:ext cx="4389120" cy="48920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limitations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201168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R0/R1: 80/20 train/validation split; R2/R3 and B3 ablations: full training partition, no validation subset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collected in one environment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lightweight architecture and one set of band boundaries (r = 0.15, 0.40)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runs: no seed variance or significance tests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generalise to all DCT representations or architectures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DCT contains useful information, but the tested DCT representations do not provide a robust improvement over the spatial representation.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B3557"/>
          </a:solidFill>
          <a:ln w="9525">
            <a:solidFill>
              <a:srgbClr val="2C4C78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92.46%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Spatial · average BA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423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B3557"/>
          </a:solidFill>
          <a:ln w="9525">
            <a:solidFill>
              <a:srgbClr val="2C4C78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51.54%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Full DCT · average BA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423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B3557"/>
          </a:solidFill>
          <a:ln w="9525">
            <a:solidFill>
              <a:srgbClr val="2C4C78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64.00%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Multi-band · average BA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423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B3557"/>
          </a:solidFill>
          <a:ln w="9525">
            <a:solidFill>
              <a:srgbClr val="2C4C78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64.61%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Spatial + DCT · average BA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Multi-band structure clearly improves over full DCT.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ablation: the bands carry complementary information.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separability does not automatically translate into effective CNN classification.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design and preprocessing matter as much as the transform itself.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1B3557"/>
          </a:solidFill>
          <a:ln w="9525">
            <a:solidFill>
              <a:srgbClr val="2C4C78"/>
            </a:solidFill>
          </a:ln>
        </p:spPr>
        <p:txBody>
          <a:bodyPr wrap="square" lIns="182880" tIns="182880" rIns="182880" bIns="18288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FD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frequency representations, adaptive band boundaries, normalisation strategies that preserve absolute spectral information, and stronger architectures.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distribution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DCT-Enhanced Lithography Hotspot Detection  |  VIT Chennai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research responsibilities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46304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14630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Palempalli Lakshmi Narasimha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23BVD1007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56032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and problem formulation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ICCAD-12 dataset preparation and analysis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baseline (R0) implementation and evaluation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Related-work analysis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146304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15968" y="14630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Sanjay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23BVD1012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56032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preprocessing and representation design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Full-DCT (R1) and Multi-band DCT (R2) implementation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Frequency-band ablation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Feature-level AUC analysis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 analysis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1463040"/>
            <a:ext cx="3566160" cy="3977640"/>
          </a:xfrm>
          <a:prstGeom prst="roundRect">
            <a:avLst>
              <a:gd name="adj" fmla="val 1538"/>
            </a:avLst>
          </a:prstGeom>
          <a:solidFill>
            <a:srgbClr val="F3F6FA"/>
          </a:solidFill>
          <a:ln w="9525">
            <a:solidFill>
              <a:srgbClr val="D5DCE6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146304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0F2340"/>
          </a:solidFill>
          <a:ln w="9525">
            <a:solidFill>
              <a:srgbClr val="0F2340"/>
            </a:solidFill>
          </a:ln>
        </p:spPr>
        <p:txBody>
          <a:bodyPr wrap="square" lIns="54864" tIns="54864" rIns="54864" bIns="5486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 Anil Shende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9C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23BVD1013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56032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Spatial-frequency fusion (R3) implementation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and parameter matching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Benchmark-wise evaluation and confusion-matrix analysis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Computational-cost analysis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and presentation preparation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design, interpretation, manuscript preparation, and final review were conducted collaboratively by all team members.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1514</Words>
  <Application>Microsoft Macintosh PowerPoint</Application>
  <PresentationFormat>Widescreen</PresentationFormat>
  <Paragraphs>304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DCT-Enhanced Lithography Hotspot Detection</dc:title>
  <dc:subject>PptxGenJS Presentation</dc:subject>
  <dc:creator>PptxGenJS</dc:creator>
  <cp:lastModifiedBy>A, Sanjay</cp:lastModifiedBy>
  <cp:revision>2</cp:revision>
  <dcterms:created xsi:type="dcterms:W3CDTF">2026-09-20T13:10:18Z</dcterms:created>
  <dcterms:modified xsi:type="dcterms:W3CDTF">2026-09-20T13:24:30Z</dcterms:modified>
</cp:coreProperties>
</file>